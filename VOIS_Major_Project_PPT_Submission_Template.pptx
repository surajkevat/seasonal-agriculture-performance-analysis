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120" d="100"/>
          <a:sy n="120" d="100"/>
        </p:scale>
        <p:origin x="114" y="33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78995" y="3959361"/>
            <a:ext cx="6560060" cy="861497"/>
          </a:xfrm>
        </p:spPr>
        <p:txBody>
          <a:bodyPr vert="horz" lIns="91440" tIns="45720" rIns="91440" bIns="45720" rtlCol="0" anchor="t">
            <a:normAutofit/>
          </a:bodyPr>
          <a:lstStyle/>
          <a:p>
            <a:r>
              <a:rPr lang="en-US" sz="1400" dirty="0">
                <a:solidFill>
                  <a:schemeClr val="tx1"/>
                </a:solidFill>
              </a:rPr>
              <a:t>Student Name - Suraj GobariPrasad Kevat</a:t>
            </a:r>
            <a:endParaRPr lang="en-IN" sz="1400" dirty="0">
              <a:solidFill>
                <a:schemeClr val="tx1"/>
              </a:solidFill>
            </a:endParaRPr>
          </a:p>
          <a:p>
            <a:r>
              <a:rPr lang="en-US" sz="1400" dirty="0">
                <a:solidFill>
                  <a:schemeClr val="tx1"/>
                </a:solidFill>
              </a:rPr>
              <a:t>College Name - </a:t>
            </a:r>
            <a:r>
              <a:rPr lang="en-IN" sz="1400" dirty="0">
                <a:solidFill>
                  <a:schemeClr val="tx1"/>
                </a:solidFill>
              </a:rPr>
              <a:t>BIRLA INSTIUTTE OF TECHNOLOGY AND SCIENCE PILANI</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2" y="2844749"/>
            <a:ext cx="9539064" cy="861497"/>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78995" y="4816944"/>
            <a:ext cx="5379785" cy="307777"/>
          </a:xfrm>
          <a:prstGeom prst="rect">
            <a:avLst/>
          </a:prstGeom>
          <a:noFill/>
        </p:spPr>
        <p:txBody>
          <a:bodyPr wrap="square" rtlCol="0">
            <a:spAutoFit/>
          </a:bodyPr>
          <a:lstStyle/>
          <a:p>
            <a:r>
              <a:rPr lang="en-US" sz="1400" b="1" dirty="0"/>
              <a:t>AICTE STU ID : STU6a61de09732191784798729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79" y="1875556"/>
            <a:ext cx="6995604" cy="4024312"/>
          </a:xfrm>
        </p:spPr>
        <p:txBody>
          <a:bodyPr vert="horz" lIns="91440" tIns="45720" rIns="91440" bIns="45720" rtlCol="0" anchor="t">
            <a:noAutofit/>
          </a:bodyPr>
          <a:lstStyle/>
          <a:p>
            <a:pPr>
              <a:lnSpc>
                <a:spcPct val="100000"/>
              </a:lnSpc>
            </a:pPr>
            <a:r>
              <a:rPr lang="en-US"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8250126" y="2922883"/>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 Placeholder 1">
            <a:extLst>
              <a:ext uri="{FF2B5EF4-FFF2-40B4-BE49-F238E27FC236}">
                <a16:creationId xmlns:a16="http://schemas.microsoft.com/office/drawing/2014/main" id="{923B8766-8BCD-6C52-BDAD-19AD603CA0EF}"/>
              </a:ext>
            </a:extLst>
          </p:cNvPr>
          <p:cNvSpPr>
            <a:spLocks noGrp="1"/>
          </p:cNvSpPr>
          <p:nvPr>
            <p:ph type="body" sz="quarter" idx="12"/>
          </p:nvPr>
        </p:nvSpPr>
        <p:spPr>
          <a:xfrm>
            <a:off x="545546" y="1907360"/>
            <a:ext cx="9075533" cy="4350315"/>
          </a:xfrm>
        </p:spPr>
        <p:txBody>
          <a:bodyPr vert="horz" lIns="91440" tIns="45720" rIns="91440" bIns="45720" rtlCol="0" anchor="t">
            <a:noAutofit/>
          </a:bodyPr>
          <a:lstStyle/>
          <a:p>
            <a:pPr>
              <a:lnSpc>
                <a:spcPct val="100000"/>
              </a:lnSpc>
            </a:pPr>
            <a:r>
              <a:rPr lang="en-IN" dirty="0"/>
              <a:t>This project analyses  a dataset of 4,000 farm-level records that cover the Kharif season the Rabi season and the Zaid season. The goal is to find out how changes in seasons impact crop yield, production, profit and the way resources are used. The work includes cleaning the data, which means fixing missing values for rainfall, soil moisture and yield by using the median for each season. It also includes looking at statistics checking for unusual data points and creating visualizations like charts and graphs using Python. The main focus is on comparing yield and profit between seasons looking at patterns for crops during different seasons checking how well each state is doing and seeing how the use of resources like fertilizer and water is connected to how much money is made. The main aim is to get insights and suggestions to help plan agricultural activities, for different seasons. This is purely a data analysis project. Does not use machine learning or build any dashboards.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8597570" cy="3990023"/>
          </a:xfrm>
        </p:spPr>
        <p:txBody>
          <a:bodyPr>
            <a:normAutofit fontScale="62500" lnSpcReduction="20000"/>
          </a:bodyPr>
          <a:lstStyle/>
          <a:p>
            <a:pPr>
              <a:lnSpc>
                <a:spcPct val="120000"/>
              </a:lnSpc>
            </a:pPr>
            <a:r>
              <a:rPr lang="en-IN" sz="3200" dirty="0"/>
              <a:t>Farmers, planning crop and resource decisions by season to keep their fields healthy and productive.</a:t>
            </a:r>
          </a:p>
          <a:p>
            <a:pPr>
              <a:lnSpc>
                <a:spcPct val="120000"/>
              </a:lnSpc>
            </a:pPr>
            <a:r>
              <a:rPr lang="en-IN" sz="3200" dirty="0"/>
              <a:t>Agricultural policy makers and state agriculture departments shaping rules and offering support, for farmers.</a:t>
            </a:r>
          </a:p>
          <a:p>
            <a:pPr>
              <a:lnSpc>
                <a:spcPct val="120000"/>
              </a:lnSpc>
            </a:pPr>
            <a:r>
              <a:rPr lang="en-IN" sz="3200" dirty="0"/>
              <a:t>Agricultural researchers and extension officers investigating techniques and sharing knowledge with farmers.</a:t>
            </a:r>
          </a:p>
          <a:p>
            <a:pPr>
              <a:lnSpc>
                <a:spcPct val="120000"/>
              </a:lnSpc>
            </a:pPr>
            <a:r>
              <a:rPr lang="en-IN" sz="3200" dirty="0"/>
              <a:t>Crop insurance and financial institutions assessing seasonal risk to help farmers manage uncertainty.</a:t>
            </a:r>
          </a:p>
          <a:p>
            <a:pPr>
              <a:lnSpc>
                <a:spcPct val="120000"/>
              </a:lnSpc>
            </a:pPr>
            <a:r>
              <a:rPr lang="en-IN" sz="3200" dirty="0"/>
              <a:t>Agri‑business and supply chain planners, coordinating production and distribution so farmers get their products to market.</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0" y="3920428"/>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Python- Pandas (data cleaning and aggregation) </a:t>
            </a:r>
          </a:p>
          <a:p>
            <a:pPr lvl="1">
              <a:lnSpc>
                <a:spcPct val="150000"/>
              </a:lnSpc>
            </a:pPr>
            <a:r>
              <a:rPr lang="en-IN" dirty="0"/>
              <a:t>NumPy (numerical operations) </a:t>
            </a:r>
          </a:p>
          <a:p>
            <a:pPr lvl="1">
              <a:lnSpc>
                <a:spcPct val="150000"/>
              </a:lnSpc>
            </a:pPr>
            <a:r>
              <a:rPr lang="en-IN" dirty="0"/>
              <a:t>Matplotlib and Seaborn (visualization)</a:t>
            </a:r>
          </a:p>
          <a:p>
            <a:pPr lvl="1">
              <a:lnSpc>
                <a:spcPct val="150000"/>
              </a:lnSpc>
            </a:pPr>
            <a:r>
              <a:rPr lang="en-IN" dirty="0"/>
              <a:t>Google </a:t>
            </a:r>
            <a:r>
              <a:rPr lang="en-IN" dirty="0" err="1"/>
              <a:t>Colab</a:t>
            </a:r>
            <a:r>
              <a:rPr lang="en-IN" dirty="0"/>
              <a:t> (development environment)</a:t>
            </a:r>
          </a:p>
          <a:p>
            <a:pPr lvl="1">
              <a:lnSpc>
                <a:spcPct val="150000"/>
              </a:lnSpc>
            </a:pPr>
            <a:r>
              <a:rPr lang="en-IN" dirty="0"/>
              <a:t>GitHub (version control and submission)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a:extLst>
              <a:ext uri="{FF2B5EF4-FFF2-40B4-BE49-F238E27FC236}">
                <a16:creationId xmlns:a16="http://schemas.microsoft.com/office/drawing/2014/main" id="{57743240-0FDA-AC14-7F8D-16238A2082D8}"/>
              </a:ext>
            </a:extLst>
          </p:cNvPr>
          <p:cNvSpPr>
            <a:spLocks noGrp="1"/>
          </p:cNvSpPr>
          <p:nvPr>
            <p:ph type="body" sz="quarter" idx="12"/>
          </p:nvPr>
        </p:nvSpPr>
        <p:spPr>
          <a:xfrm>
            <a:off x="320982" y="2020274"/>
            <a:ext cx="8796352" cy="4548166"/>
          </a:xfrm>
        </p:spPr>
        <p:txBody>
          <a:bodyPr>
            <a:normAutofit fontScale="55000" lnSpcReduction="20000"/>
          </a:bodyPr>
          <a:lstStyle/>
          <a:p>
            <a:r>
              <a:rPr lang="en-IN" sz="3200" dirty="0"/>
              <a:t>Kharif season has the performance: it gives the highest average yield at 5.63 tonnes per hectare the highest total profit of ₹318.3 million and the highest total production of 82,388 tonnes</a:t>
            </a:r>
          </a:p>
          <a:p>
            <a:r>
              <a:rPr lang="en-IN" sz="3200" dirty="0"/>
              <a:t>Zaid season performs the worst: it has the lowest average yield at 4.64 tonnes per hectare and ends with a total profit loss of −₹14.7 million</a:t>
            </a:r>
          </a:p>
          <a:p>
            <a:r>
              <a:rPr lang="en-IN" sz="3200" dirty="0"/>
              <a:t>In both Rabi and Zaid seasons the median profit is negative even though the mean profit remains positive. This means that the typical farm earns less than what the average suggests</a:t>
            </a:r>
          </a:p>
          <a:p>
            <a:r>
              <a:rPr lang="en-IN" sz="3200" dirty="0"/>
              <a:t>The yield ranking from Kharif to Rabi to Zaid is consistent across all crops with no exceptions</a:t>
            </a:r>
          </a:p>
          <a:p>
            <a:r>
              <a:rPr lang="en-IN" sz="3200" dirty="0"/>
              <a:t>Punjab and Maharashtra lead in average profit among states; Andhra Pradesh ranks last</a:t>
            </a:r>
          </a:p>
          <a:p>
            <a:r>
              <a:rPr lang="en-IN" sz="3200" dirty="0"/>
              <a:t>Higher fertilizer use is linked to lower profit, not higher yield. The correlation, between fertilizer and yield is nearly zero</a:t>
            </a:r>
          </a:p>
          <a:p>
            <a:r>
              <a:rPr lang="en-IN" sz="3200" dirty="0"/>
              <a:t>Disease and pest risk have only a weak and inconsistent connection to profit across different seasons</a:t>
            </a:r>
          </a:p>
          <a:p>
            <a:pPr algn="just">
              <a:lnSpc>
                <a:spcPct val="150000"/>
              </a:lnSpc>
            </a:pPr>
            <a:endParaRPr lang="en-IN" sz="36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0" end="0"/>
                                            </p:txEl>
                                          </p:spTgt>
                                        </p:tgtEl>
                                        <p:attrNameLst>
                                          <p:attrName>style.visibility</p:attrName>
                                        </p:attrNameLst>
                                      </p:cBhvr>
                                      <p:to>
                                        <p:strVal val="visible"/>
                                      </p:to>
                                    </p:set>
                                    <p:animEffect transition="in" filter="fade">
                                      <p:cBhvr>
                                        <p:cTn id="28" dur="1000"/>
                                        <p:tgtEl>
                                          <p:spTgt spid="2">
                                            <p:txEl>
                                              <p:pRg st="0" end="0"/>
                                            </p:txEl>
                                          </p:spTgt>
                                        </p:tgtEl>
                                      </p:cBhvr>
                                    </p:animEffect>
                                    <p:anim calcmode="lin" valueType="num">
                                      <p:cBhvr>
                                        <p:cTn id="29"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1" end="1"/>
                                            </p:txEl>
                                          </p:spTgt>
                                        </p:tgtEl>
                                        <p:attrNameLst>
                                          <p:attrName>style.visibility</p:attrName>
                                        </p:attrNameLst>
                                      </p:cBhvr>
                                      <p:to>
                                        <p:strVal val="visible"/>
                                      </p:to>
                                    </p:set>
                                    <p:animEffect transition="in" filter="fade">
                                      <p:cBhvr>
                                        <p:cTn id="35" dur="1000"/>
                                        <p:tgtEl>
                                          <p:spTgt spid="2">
                                            <p:txEl>
                                              <p:pRg st="1" end="1"/>
                                            </p:txEl>
                                          </p:spTgt>
                                        </p:tgtEl>
                                      </p:cBhvr>
                                    </p:animEffect>
                                    <p:anim calcmode="lin" valueType="num">
                                      <p:cBhvr>
                                        <p:cTn id="36"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fade">
                                      <p:cBhvr>
                                        <p:cTn id="42" dur="1000"/>
                                        <p:tgtEl>
                                          <p:spTgt spid="2">
                                            <p:txEl>
                                              <p:pRg st="2" end="2"/>
                                            </p:txEl>
                                          </p:spTgt>
                                        </p:tgtEl>
                                      </p:cBhvr>
                                    </p:animEffect>
                                    <p:anim calcmode="lin" valueType="num">
                                      <p:cBhvr>
                                        <p:cTn id="4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3" end="3"/>
                                            </p:txEl>
                                          </p:spTgt>
                                        </p:tgtEl>
                                        <p:attrNameLst>
                                          <p:attrName>style.visibility</p:attrName>
                                        </p:attrNameLst>
                                      </p:cBhvr>
                                      <p:to>
                                        <p:strVal val="visible"/>
                                      </p:to>
                                    </p:set>
                                    <p:animEffect transition="in" filter="fade">
                                      <p:cBhvr>
                                        <p:cTn id="49" dur="1000"/>
                                        <p:tgtEl>
                                          <p:spTgt spid="2">
                                            <p:txEl>
                                              <p:pRg st="3" end="3"/>
                                            </p:txEl>
                                          </p:spTgt>
                                        </p:tgtEl>
                                      </p:cBhvr>
                                    </p:animEffect>
                                    <p:anim calcmode="lin" valueType="num">
                                      <p:cBhvr>
                                        <p:cTn id="50"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4" end="4"/>
                                            </p:txEl>
                                          </p:spTgt>
                                        </p:tgtEl>
                                        <p:attrNameLst>
                                          <p:attrName>style.visibility</p:attrName>
                                        </p:attrNameLst>
                                      </p:cBhvr>
                                      <p:to>
                                        <p:strVal val="visible"/>
                                      </p:to>
                                    </p:set>
                                    <p:animEffect transition="in" filter="fade">
                                      <p:cBhvr>
                                        <p:cTn id="56" dur="1000"/>
                                        <p:tgtEl>
                                          <p:spTgt spid="2">
                                            <p:txEl>
                                              <p:pRg st="4" end="4"/>
                                            </p:txEl>
                                          </p:spTgt>
                                        </p:tgtEl>
                                      </p:cBhvr>
                                    </p:animEffect>
                                    <p:anim calcmode="lin" valueType="num">
                                      <p:cBhvr>
                                        <p:cTn id="57"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5" end="5"/>
                                            </p:txEl>
                                          </p:spTgt>
                                        </p:tgtEl>
                                        <p:attrNameLst>
                                          <p:attrName>style.visibility</p:attrName>
                                        </p:attrNameLst>
                                      </p:cBhvr>
                                      <p:to>
                                        <p:strVal val="visible"/>
                                      </p:to>
                                    </p:set>
                                    <p:animEffect transition="in" filter="fade">
                                      <p:cBhvr>
                                        <p:cTn id="63" dur="1000"/>
                                        <p:tgtEl>
                                          <p:spTgt spid="2">
                                            <p:txEl>
                                              <p:pRg st="5" end="5"/>
                                            </p:txEl>
                                          </p:spTgt>
                                        </p:tgtEl>
                                      </p:cBhvr>
                                    </p:animEffect>
                                    <p:anim calcmode="lin" valueType="num">
                                      <p:cBhvr>
                                        <p:cTn id="64"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6" end="6"/>
                                            </p:txEl>
                                          </p:spTgt>
                                        </p:tgtEl>
                                        <p:attrNameLst>
                                          <p:attrName>style.visibility</p:attrName>
                                        </p:attrNameLst>
                                      </p:cBhvr>
                                      <p:to>
                                        <p:strVal val="visible"/>
                                      </p:to>
                                    </p:set>
                                    <p:animEffect transition="in" filter="fade">
                                      <p:cBhvr>
                                        <p:cTn id="70" dur="1000"/>
                                        <p:tgtEl>
                                          <p:spTgt spid="2">
                                            <p:txEl>
                                              <p:pRg st="6" end="6"/>
                                            </p:txEl>
                                          </p:spTgt>
                                        </p:tgtEl>
                                      </p:cBhvr>
                                    </p:animEffect>
                                    <p:anim calcmode="lin" valueType="num">
                                      <p:cBhvr>
                                        <p:cTn id="71"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9D0270A7-7B22-7EF6-B5B3-794450E3A6E7}"/>
              </a:ext>
            </a:extLst>
          </p:cNvPr>
          <p:cNvPicPr>
            <a:picLocks noChangeAspect="1"/>
          </p:cNvPicPr>
          <p:nvPr/>
        </p:nvPicPr>
        <p:blipFill>
          <a:blip r:embed="rId3"/>
          <a:stretch>
            <a:fillRect/>
          </a:stretch>
        </p:blipFill>
        <p:spPr>
          <a:xfrm>
            <a:off x="320982" y="1757238"/>
            <a:ext cx="9910607" cy="490772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88FE1E97-4588-2F19-9FD1-4E030739F998}"/>
              </a:ext>
            </a:extLst>
          </p:cNvPr>
          <p:cNvPicPr>
            <a:picLocks noChangeAspect="1"/>
          </p:cNvPicPr>
          <p:nvPr/>
        </p:nvPicPr>
        <p:blipFill>
          <a:blip r:embed="rId3"/>
          <a:stretch>
            <a:fillRect/>
          </a:stretch>
        </p:blipFill>
        <p:spPr>
          <a:xfrm>
            <a:off x="206734" y="1765083"/>
            <a:ext cx="9756250" cy="451988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0C9B4AFA-4A63-4309-B805-44D07F595BDA}"/>
              </a:ext>
            </a:extLst>
          </p:cNvPr>
          <p:cNvPicPr>
            <a:picLocks noChangeAspect="1"/>
          </p:cNvPicPr>
          <p:nvPr/>
        </p:nvPicPr>
        <p:blipFill>
          <a:blip r:embed="rId3"/>
          <a:stretch>
            <a:fillRect/>
          </a:stretch>
        </p:blipFill>
        <p:spPr>
          <a:xfrm>
            <a:off x="604395" y="1324410"/>
            <a:ext cx="9226950" cy="503001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39481BBE-51F0-AC82-C7E1-24344514F489}"/>
              </a:ext>
            </a:extLst>
          </p:cNvPr>
          <p:cNvPicPr>
            <a:picLocks noChangeAspect="1"/>
          </p:cNvPicPr>
          <p:nvPr/>
        </p:nvPicPr>
        <p:blipFill>
          <a:blip r:embed="rId3"/>
          <a:stretch>
            <a:fillRect/>
          </a:stretch>
        </p:blipFill>
        <p:spPr>
          <a:xfrm>
            <a:off x="413468" y="1665376"/>
            <a:ext cx="8972964" cy="440939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AB0E3-C72C-6E69-ED5B-CFB08EF1A62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E500B1C-2064-E802-D5BB-12F7B755977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772BB3F-D78E-84EF-F0D4-567C0BDF723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896A96C-6290-0A86-CE87-94D0844A278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1EA3429-1570-D896-EBD2-CF8DB2E7005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97C25F6-E090-4D42-A124-C14AFC4DBB71}"/>
              </a:ext>
            </a:extLst>
          </p:cNvPr>
          <p:cNvPicPr>
            <a:picLocks noChangeAspect="1"/>
          </p:cNvPicPr>
          <p:nvPr/>
        </p:nvPicPr>
        <p:blipFill>
          <a:blip r:embed="rId3"/>
          <a:stretch>
            <a:fillRect/>
          </a:stretch>
        </p:blipFill>
        <p:spPr>
          <a:xfrm>
            <a:off x="320982" y="1645890"/>
            <a:ext cx="9840785" cy="4826029"/>
          </a:xfrm>
          <a:prstGeom prst="rect">
            <a:avLst/>
          </a:prstGeom>
        </p:spPr>
      </p:pic>
    </p:spTree>
    <p:extLst>
      <p:ext uri="{BB962C8B-B14F-4D97-AF65-F5344CB8AC3E}">
        <p14:creationId xmlns:p14="http://schemas.microsoft.com/office/powerpoint/2010/main" val="3712988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 Placeholder 1">
            <a:extLst>
              <a:ext uri="{FF2B5EF4-FFF2-40B4-BE49-F238E27FC236}">
                <a16:creationId xmlns:a16="http://schemas.microsoft.com/office/drawing/2014/main" id="{FC82891C-75BD-7B50-C4CC-08643BADBD93}"/>
              </a:ext>
            </a:extLst>
          </p:cNvPr>
          <p:cNvSpPr>
            <a:spLocks noGrp="1"/>
          </p:cNvSpPr>
          <p:nvPr>
            <p:ph type="body" sz="quarter" idx="12"/>
          </p:nvPr>
        </p:nvSpPr>
        <p:spPr>
          <a:xfrm>
            <a:off x="424348" y="1447137"/>
            <a:ext cx="8854823" cy="4709439"/>
          </a:xfrm>
        </p:spPr>
        <p:txBody>
          <a:bodyPr>
            <a:normAutofit fontScale="47500" lnSpcReduction="20000"/>
          </a:bodyPr>
          <a:lstStyle/>
          <a:p>
            <a:r>
              <a:rPr lang="en-IN" sz="3200" dirty="0"/>
              <a:t>Extend the analysis with a longer time series to observe year-over-year trends within each season</a:t>
            </a:r>
          </a:p>
          <a:p>
            <a:r>
              <a:rPr lang="en-IN" sz="3200" dirty="0"/>
              <a:t>Investigate why high fertilizer usage correlates with profit. Possibly through a dedicated cost-efficiency study</a:t>
            </a:r>
          </a:p>
          <a:p>
            <a:r>
              <a:rPr lang="en-IN" sz="3200" dirty="0"/>
              <a:t>Build a dashboard (e.g. using Streamlit) to let users interactively filter by season, state and crop</a:t>
            </a:r>
          </a:p>
          <a:p>
            <a:r>
              <a:rPr lang="en-IN" sz="3200" dirty="0"/>
              <a:t> Apply machine learning models to predict yield or profit based on seasonal and resource variables</a:t>
            </a:r>
          </a:p>
          <a:p>
            <a:r>
              <a:rPr lang="en-IN" sz="3200" dirty="0"/>
              <a:t>Incorporate additional data such as soil type, farmer demographics or market demand fluctuations</a:t>
            </a:r>
          </a:p>
          <a:p>
            <a:r>
              <a:rPr lang="en-IN" sz="3200" dirty="0"/>
              <a:t>The Kharif &gt; Rabi &gt; Zaid yield ranking holds across every crop with no exceptions</a:t>
            </a:r>
          </a:p>
          <a:p>
            <a:r>
              <a:rPr lang="en-IN" sz="3200" dirty="0"/>
              <a:t>Punjab and Maharashtra are the top-performing states by average profit; Andhra Pradesh is the lowest</a:t>
            </a:r>
          </a:p>
          <a:p>
            <a:r>
              <a:rPr lang="en-IN" sz="3200" dirty="0"/>
              <a:t> Higher fertilizer usage is associated with lower profit (not higher yield). Correlation between fertilizer and yield is close to 0</a:t>
            </a:r>
          </a:p>
          <a:p>
            <a:r>
              <a:rPr lang="en-IN" sz="3200" dirty="0"/>
              <a:t> Disease/pest risk shows only a weak inconsistent relationship with profit, across seasons</a:t>
            </a:r>
          </a:p>
          <a:p>
            <a:pPr algn="just">
              <a:lnSpc>
                <a:spcPct val="150000"/>
              </a:lnSpc>
            </a:pPr>
            <a:endParaRPr lang="en-IN" sz="36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Effect transition="in" filter="fade">
                                      <p:cBhvr>
                                        <p:cTn id="28" dur="1000"/>
                                        <p:tgtEl>
                                          <p:spTgt spid="9">
                                            <p:txEl>
                                              <p:pRg st="0" end="0"/>
                                            </p:txEl>
                                          </p:spTgt>
                                        </p:tgtEl>
                                      </p:cBhvr>
                                    </p:animEffect>
                                    <p:anim calcmode="lin" valueType="num">
                                      <p:cBhvr>
                                        <p:cTn id="29"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animEffect transition="in" filter="fade">
                                      <p:cBhvr>
                                        <p:cTn id="35" dur="1000"/>
                                        <p:tgtEl>
                                          <p:spTgt spid="9">
                                            <p:txEl>
                                              <p:pRg st="1" end="1"/>
                                            </p:txEl>
                                          </p:spTgt>
                                        </p:tgtEl>
                                      </p:cBhvr>
                                    </p:animEffect>
                                    <p:anim calcmode="lin" valueType="num">
                                      <p:cBhvr>
                                        <p:cTn id="36"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9">
                                            <p:txEl>
                                              <p:pRg st="2" end="2"/>
                                            </p:txEl>
                                          </p:spTgt>
                                        </p:tgtEl>
                                        <p:attrNameLst>
                                          <p:attrName>style.visibility</p:attrName>
                                        </p:attrNameLst>
                                      </p:cBhvr>
                                      <p:to>
                                        <p:strVal val="visible"/>
                                      </p:to>
                                    </p:set>
                                    <p:animEffect transition="in" filter="fade">
                                      <p:cBhvr>
                                        <p:cTn id="42" dur="1000"/>
                                        <p:tgtEl>
                                          <p:spTgt spid="9">
                                            <p:txEl>
                                              <p:pRg st="2" end="2"/>
                                            </p:txEl>
                                          </p:spTgt>
                                        </p:tgtEl>
                                      </p:cBhvr>
                                    </p:animEffect>
                                    <p:anim calcmode="lin" valueType="num">
                                      <p:cBhvr>
                                        <p:cTn id="4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9">
                                            <p:txEl>
                                              <p:pRg st="3" end="3"/>
                                            </p:txEl>
                                          </p:spTgt>
                                        </p:tgtEl>
                                        <p:attrNameLst>
                                          <p:attrName>style.visibility</p:attrName>
                                        </p:attrNameLst>
                                      </p:cBhvr>
                                      <p:to>
                                        <p:strVal val="visible"/>
                                      </p:to>
                                    </p:set>
                                    <p:animEffect transition="in" filter="fade">
                                      <p:cBhvr>
                                        <p:cTn id="49" dur="1000"/>
                                        <p:tgtEl>
                                          <p:spTgt spid="9">
                                            <p:txEl>
                                              <p:pRg st="3" end="3"/>
                                            </p:txEl>
                                          </p:spTgt>
                                        </p:tgtEl>
                                      </p:cBhvr>
                                    </p:animEffect>
                                    <p:anim calcmode="lin" valueType="num">
                                      <p:cBhvr>
                                        <p:cTn id="50"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9">
                                            <p:txEl>
                                              <p:pRg st="4" end="4"/>
                                            </p:txEl>
                                          </p:spTgt>
                                        </p:tgtEl>
                                        <p:attrNameLst>
                                          <p:attrName>style.visibility</p:attrName>
                                        </p:attrNameLst>
                                      </p:cBhvr>
                                      <p:to>
                                        <p:strVal val="visible"/>
                                      </p:to>
                                    </p:set>
                                    <p:animEffect transition="in" filter="fade">
                                      <p:cBhvr>
                                        <p:cTn id="56" dur="1000"/>
                                        <p:tgtEl>
                                          <p:spTgt spid="9">
                                            <p:txEl>
                                              <p:pRg st="4" end="4"/>
                                            </p:txEl>
                                          </p:spTgt>
                                        </p:tgtEl>
                                      </p:cBhvr>
                                    </p:animEffect>
                                    <p:anim calcmode="lin" valueType="num">
                                      <p:cBhvr>
                                        <p:cTn id="57"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9">
                                            <p:txEl>
                                              <p:pRg st="5" end="5"/>
                                            </p:txEl>
                                          </p:spTgt>
                                        </p:tgtEl>
                                        <p:attrNameLst>
                                          <p:attrName>style.visibility</p:attrName>
                                        </p:attrNameLst>
                                      </p:cBhvr>
                                      <p:to>
                                        <p:strVal val="visible"/>
                                      </p:to>
                                    </p:set>
                                    <p:animEffect transition="in" filter="fade">
                                      <p:cBhvr>
                                        <p:cTn id="63" dur="1000"/>
                                        <p:tgtEl>
                                          <p:spTgt spid="9">
                                            <p:txEl>
                                              <p:pRg st="5" end="5"/>
                                            </p:txEl>
                                          </p:spTgt>
                                        </p:tgtEl>
                                      </p:cBhvr>
                                    </p:animEffect>
                                    <p:anim calcmode="lin" valueType="num">
                                      <p:cBhvr>
                                        <p:cTn id="64"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9">
                                            <p:txEl>
                                              <p:pRg st="6" end="6"/>
                                            </p:txEl>
                                          </p:spTgt>
                                        </p:tgtEl>
                                        <p:attrNameLst>
                                          <p:attrName>style.visibility</p:attrName>
                                        </p:attrNameLst>
                                      </p:cBhvr>
                                      <p:to>
                                        <p:strVal val="visible"/>
                                      </p:to>
                                    </p:set>
                                    <p:animEffect transition="in" filter="fade">
                                      <p:cBhvr>
                                        <p:cTn id="70" dur="1000"/>
                                        <p:tgtEl>
                                          <p:spTgt spid="9">
                                            <p:txEl>
                                              <p:pRg st="6" end="6"/>
                                            </p:txEl>
                                          </p:spTgt>
                                        </p:tgtEl>
                                      </p:cBhvr>
                                    </p:animEffect>
                                    <p:anim calcmode="lin" valueType="num">
                                      <p:cBhvr>
                                        <p:cTn id="71"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9">
                                            <p:txEl>
                                              <p:pRg st="7" end="7"/>
                                            </p:txEl>
                                          </p:spTgt>
                                        </p:tgtEl>
                                        <p:attrNameLst>
                                          <p:attrName>style.visibility</p:attrName>
                                        </p:attrNameLst>
                                      </p:cBhvr>
                                      <p:to>
                                        <p:strVal val="visible"/>
                                      </p:to>
                                    </p:set>
                                    <p:animEffect transition="in" filter="fade">
                                      <p:cBhvr>
                                        <p:cTn id="77" dur="1000"/>
                                        <p:tgtEl>
                                          <p:spTgt spid="9">
                                            <p:txEl>
                                              <p:pRg st="7" end="7"/>
                                            </p:txEl>
                                          </p:spTgt>
                                        </p:tgtEl>
                                      </p:cBhvr>
                                    </p:animEffect>
                                    <p:anim calcmode="lin" valueType="num">
                                      <p:cBhvr>
                                        <p:cTn id="78"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9">
                                            <p:txEl>
                                              <p:pRg st="8" end="8"/>
                                            </p:txEl>
                                          </p:spTgt>
                                        </p:tgtEl>
                                        <p:attrNameLst>
                                          <p:attrName>style.visibility</p:attrName>
                                        </p:attrNameLst>
                                      </p:cBhvr>
                                      <p:to>
                                        <p:strVal val="visible"/>
                                      </p:to>
                                    </p:set>
                                    <p:animEffect transition="in" filter="fade">
                                      <p:cBhvr>
                                        <p:cTn id="84" dur="1000"/>
                                        <p:tgtEl>
                                          <p:spTgt spid="9">
                                            <p:txEl>
                                              <p:pRg st="8" end="8"/>
                                            </p:txEl>
                                          </p:spTgt>
                                        </p:tgtEl>
                                      </p:cBhvr>
                                    </p:animEffect>
                                    <p:anim calcmode="lin" valueType="num">
                                      <p:cBhvr>
                                        <p:cTn id="85"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86" dur="1000" fill="hold"/>
                                        <p:tgtEl>
                                          <p:spTgt spid="9">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https://github.com/AswiniKumar55/-Seasonal-Agriculture-Performance-Analysis-.git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190B457-FF29-9069-D48A-417DCECD008F}"/>
              </a:ext>
            </a:extLst>
          </p:cNvPr>
          <p:cNvPicPr>
            <a:picLocks noChangeAspect="1"/>
          </p:cNvPicPr>
          <p:nvPr/>
        </p:nvPicPr>
        <p:blipFill>
          <a:blip r:embed="rId3"/>
          <a:stretch>
            <a:fillRect/>
          </a:stretch>
        </p:blipFill>
        <p:spPr>
          <a:xfrm>
            <a:off x="876900" y="1661823"/>
            <a:ext cx="7909291" cy="492252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1398</TotalTime>
  <Words>773</Words>
  <Application>Microsoft Office PowerPoint</Application>
  <PresentationFormat>Widescreen</PresentationFormat>
  <Paragraphs>50</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suraj kevat</cp:lastModifiedBy>
  <cp:revision>110</cp:revision>
  <dcterms:created xsi:type="dcterms:W3CDTF">2021-07-11T13:13:15Z</dcterms:created>
  <dcterms:modified xsi:type="dcterms:W3CDTF">2026-09-10T09:46:21Z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